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6858000" cx="9144000"/>
  <p:notesSz cx="6858000" cy="9080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gfz/VJfwkuq/ry6u2uaSS2A/AH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E8D9E1-18BB-4D60-B344-CBA93FD6ED14}">
  <a:tblStyle styleId="{B2E8D9E1-18BB-4D60-B344-CBA93FD6ED1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slide" Target="slides/slide41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24888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24888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2f06b7489_0_0:notes"/>
          <p:cNvSpPr txBox="1"/>
          <p:nvPr>
            <p:ph idx="1" type="body"/>
          </p:nvPr>
        </p:nvSpPr>
        <p:spPr>
          <a:xfrm>
            <a:off x="685800" y="4313238"/>
            <a:ext cx="54864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22f06b7489_0_0:notes"/>
          <p:cNvSpPr/>
          <p:nvPr>
            <p:ph idx="2" type="sldImg"/>
          </p:nvPr>
        </p:nvSpPr>
        <p:spPr>
          <a:xfrm>
            <a:off x="1158875" y="681038"/>
            <a:ext cx="4540200" cy="340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2f06b7489_1_1:notes"/>
          <p:cNvSpPr txBox="1"/>
          <p:nvPr>
            <p:ph idx="1" type="body"/>
          </p:nvPr>
        </p:nvSpPr>
        <p:spPr>
          <a:xfrm>
            <a:off x="685800" y="4313238"/>
            <a:ext cx="54864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22f06b7489_1_1:notes"/>
          <p:cNvSpPr/>
          <p:nvPr>
            <p:ph idx="2" type="sldImg"/>
          </p:nvPr>
        </p:nvSpPr>
        <p:spPr>
          <a:xfrm>
            <a:off x="1158875" y="681038"/>
            <a:ext cx="4540200" cy="340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2f06b7489_1_8:notes"/>
          <p:cNvSpPr txBox="1"/>
          <p:nvPr>
            <p:ph idx="1" type="body"/>
          </p:nvPr>
        </p:nvSpPr>
        <p:spPr>
          <a:xfrm>
            <a:off x="685800" y="4313238"/>
            <a:ext cx="54864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22f06b7489_1_8:notes"/>
          <p:cNvSpPr/>
          <p:nvPr>
            <p:ph idx="2" type="sldImg"/>
          </p:nvPr>
        </p:nvSpPr>
        <p:spPr>
          <a:xfrm>
            <a:off x="1158875" y="681038"/>
            <a:ext cx="4540200" cy="340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2f06b7489_1_15:notes"/>
          <p:cNvSpPr txBox="1"/>
          <p:nvPr>
            <p:ph idx="1" type="body"/>
          </p:nvPr>
        </p:nvSpPr>
        <p:spPr>
          <a:xfrm>
            <a:off x="685800" y="4313238"/>
            <a:ext cx="54864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22f06b7489_1_15:notes"/>
          <p:cNvSpPr/>
          <p:nvPr>
            <p:ph idx="2" type="sldImg"/>
          </p:nvPr>
        </p:nvSpPr>
        <p:spPr>
          <a:xfrm>
            <a:off x="1158875" y="681038"/>
            <a:ext cx="4540200" cy="340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2f06b7489_1_27:notes"/>
          <p:cNvSpPr txBox="1"/>
          <p:nvPr>
            <p:ph idx="1" type="body"/>
          </p:nvPr>
        </p:nvSpPr>
        <p:spPr>
          <a:xfrm>
            <a:off x="685800" y="4313238"/>
            <a:ext cx="54864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22f06b7489_1_27:notes"/>
          <p:cNvSpPr/>
          <p:nvPr>
            <p:ph idx="2" type="sldImg"/>
          </p:nvPr>
        </p:nvSpPr>
        <p:spPr>
          <a:xfrm>
            <a:off x="1158875" y="681038"/>
            <a:ext cx="4540200" cy="340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2f06b7489_1_34:notes"/>
          <p:cNvSpPr txBox="1"/>
          <p:nvPr>
            <p:ph idx="1" type="body"/>
          </p:nvPr>
        </p:nvSpPr>
        <p:spPr>
          <a:xfrm>
            <a:off x="685800" y="4313238"/>
            <a:ext cx="54864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22f06b7489_1_34:notes"/>
          <p:cNvSpPr/>
          <p:nvPr>
            <p:ph idx="2" type="sldImg"/>
          </p:nvPr>
        </p:nvSpPr>
        <p:spPr>
          <a:xfrm>
            <a:off x="1158875" y="681038"/>
            <a:ext cx="4540200" cy="340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2f06b7489_1_44:notes"/>
          <p:cNvSpPr txBox="1"/>
          <p:nvPr>
            <p:ph idx="1" type="body"/>
          </p:nvPr>
        </p:nvSpPr>
        <p:spPr>
          <a:xfrm>
            <a:off x="685800" y="4313238"/>
            <a:ext cx="54864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22f06b7489_1_44:notes"/>
          <p:cNvSpPr/>
          <p:nvPr>
            <p:ph idx="2" type="sldImg"/>
          </p:nvPr>
        </p:nvSpPr>
        <p:spPr>
          <a:xfrm>
            <a:off x="1158875" y="681038"/>
            <a:ext cx="4540200" cy="340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22f06b7489_1_52:notes"/>
          <p:cNvSpPr txBox="1"/>
          <p:nvPr>
            <p:ph idx="1" type="body"/>
          </p:nvPr>
        </p:nvSpPr>
        <p:spPr>
          <a:xfrm>
            <a:off x="685800" y="4313238"/>
            <a:ext cx="54864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22f06b7489_1_52:notes"/>
          <p:cNvSpPr/>
          <p:nvPr>
            <p:ph idx="2" type="sldImg"/>
          </p:nvPr>
        </p:nvSpPr>
        <p:spPr>
          <a:xfrm>
            <a:off x="1158875" y="681038"/>
            <a:ext cx="4540200" cy="340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9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21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2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23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24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25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26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27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28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29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30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31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32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33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34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35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6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36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7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37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38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39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0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40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41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42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43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44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5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p45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6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46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7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47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8:notes"/>
          <p:cNvSpPr txBox="1"/>
          <p:nvPr>
            <p:ph idx="1" type="body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p48:notes"/>
          <p:cNvSpPr/>
          <p:nvPr>
            <p:ph idx="2" type="sldImg"/>
          </p:nvPr>
        </p:nvSpPr>
        <p:spPr>
          <a:xfrm>
            <a:off x="1158875" y="681038"/>
            <a:ext cx="4540250" cy="340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/>
          <p:nvPr>
            <p:ph idx="10" type="dt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0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2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1" name="Google Shape;21;p52"/>
          <p:cNvSpPr txBox="1"/>
          <p:nvPr>
            <p:ph idx="2" type="body"/>
          </p:nvPr>
        </p:nvSpPr>
        <p:spPr>
          <a:xfrm>
            <a:off x="4648200" y="19812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2" name="Google Shape;22;p52"/>
          <p:cNvSpPr txBox="1"/>
          <p:nvPr>
            <p:ph idx="3" type="body"/>
          </p:nvPr>
        </p:nvSpPr>
        <p:spPr>
          <a:xfrm>
            <a:off x="4648200" y="41148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3" name="Google Shape;23;p5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5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lip Art" type="txAndClipArt">
  <p:cSld name="TEXT_AND_CLIPAR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3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9" name="Google Shape;29;p53"/>
          <p:cNvSpPr/>
          <p:nvPr>
            <p:ph idx="2" type="clipArt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5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5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4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4"/>
          <p:cNvSpPr txBox="1"/>
          <p:nvPr>
            <p:ph idx="10" type="dt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4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1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1"/>
          <p:cNvSpPr txBox="1"/>
          <p:nvPr>
            <p:ph idx="1" type="body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0" name="Google Shape;40;p51"/>
          <p:cNvSpPr txBox="1"/>
          <p:nvPr>
            <p:ph idx="10" type="dt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1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45" name="Google Shape;45;p55"/>
          <p:cNvSpPr txBox="1"/>
          <p:nvPr>
            <p:ph idx="10" type="dt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5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6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6"/>
          <p:cNvSpPr txBox="1"/>
          <p:nvPr>
            <p:ph idx="1" type="body"/>
          </p:nvPr>
        </p:nvSpPr>
        <p:spPr>
          <a:xfrm>
            <a:off x="350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50" name="Google Shape;50;p56"/>
          <p:cNvSpPr txBox="1"/>
          <p:nvPr>
            <p:ph idx="2" type="body"/>
          </p:nvPr>
        </p:nvSpPr>
        <p:spPr>
          <a:xfrm>
            <a:off x="4541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51" name="Google Shape;51;p56"/>
          <p:cNvSpPr txBox="1"/>
          <p:nvPr>
            <p:ph idx="10" type="dt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6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6" name="Google Shape;56;p5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7" name="Google Shape;57;p5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8" name="Google Shape;58;p5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9" name="Google Shape;59;p57"/>
          <p:cNvSpPr txBox="1"/>
          <p:nvPr>
            <p:ph idx="10" type="dt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7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4" name="Google Shape;64;p5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5" name="Google Shape;65;p58"/>
          <p:cNvSpPr txBox="1"/>
          <p:nvPr>
            <p:ph idx="10" type="dt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8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5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71" name="Google Shape;71;p59"/>
          <p:cNvSpPr txBox="1"/>
          <p:nvPr>
            <p:ph idx="10" type="dt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9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0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0"/>
          <p:cNvSpPr txBox="1"/>
          <p:nvPr>
            <p:ph idx="1" type="body"/>
          </p:nvPr>
        </p:nvSpPr>
        <p:spPr>
          <a:xfrm rot="5400000">
            <a:off x="1927226" y="-361950"/>
            <a:ext cx="50768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6" name="Google Shape;76;p60"/>
          <p:cNvSpPr txBox="1"/>
          <p:nvPr>
            <p:ph idx="10" type="dt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0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1"/>
          <p:cNvSpPr txBox="1"/>
          <p:nvPr>
            <p:ph type="title"/>
          </p:nvPr>
        </p:nvSpPr>
        <p:spPr>
          <a:xfrm rot="5400000">
            <a:off x="4455319" y="2166144"/>
            <a:ext cx="6191250" cy="2058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1"/>
          <p:cNvSpPr txBox="1"/>
          <p:nvPr>
            <p:ph idx="1" type="body"/>
          </p:nvPr>
        </p:nvSpPr>
        <p:spPr>
          <a:xfrm rot="5400000">
            <a:off x="259556" y="181770"/>
            <a:ext cx="6191250" cy="6027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61"/>
          <p:cNvSpPr txBox="1"/>
          <p:nvPr>
            <p:ph idx="10" type="dt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1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2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2"/>
          <p:cNvSpPr txBox="1"/>
          <p:nvPr>
            <p:ph idx="1" type="body"/>
          </p:nvPr>
        </p:nvSpPr>
        <p:spPr>
          <a:xfrm>
            <a:off x="350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6" name="Google Shape;86;p62"/>
          <p:cNvSpPr txBox="1"/>
          <p:nvPr>
            <p:ph idx="2" type="body"/>
          </p:nvPr>
        </p:nvSpPr>
        <p:spPr>
          <a:xfrm>
            <a:off x="4541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7" name="Google Shape;87;p62"/>
          <p:cNvSpPr txBox="1"/>
          <p:nvPr>
            <p:ph idx="10" type="dt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2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3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3"/>
          <p:cNvSpPr txBox="1"/>
          <p:nvPr>
            <p:ph idx="1" type="body"/>
          </p:nvPr>
        </p:nvSpPr>
        <p:spPr>
          <a:xfrm>
            <a:off x="350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2" name="Google Shape;92;p63"/>
          <p:cNvSpPr txBox="1"/>
          <p:nvPr>
            <p:ph idx="2" type="body"/>
          </p:nvPr>
        </p:nvSpPr>
        <p:spPr>
          <a:xfrm>
            <a:off x="4541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3" name="Google Shape;93;p63"/>
          <p:cNvSpPr txBox="1"/>
          <p:nvPr>
            <p:ph idx="10" type="dt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3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9"/>
          <p:cNvSpPr txBox="1"/>
          <p:nvPr>
            <p:ph idx="1" type="body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9"/>
          <p:cNvSpPr txBox="1"/>
          <p:nvPr>
            <p:ph idx="10" type="dt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9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49"/>
          <p:cNvSpPr/>
          <p:nvPr/>
        </p:nvSpPr>
        <p:spPr>
          <a:xfrm>
            <a:off x="327025" y="989013"/>
            <a:ext cx="8237538" cy="176212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1"/>
              </a:gs>
              <a:gs pos="50000">
                <a:schemeClr val="dk2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idx="4294967295" type="ctrTitle"/>
          </p:nvPr>
        </p:nvSpPr>
        <p:spPr>
          <a:xfrm>
            <a:off x="685800" y="1371600"/>
            <a:ext cx="82296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 &amp; Analysis of Algorithms -I</a:t>
            </a:r>
            <a:br>
              <a:rPr b="0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>
            <p:ph idx="4294967295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Lecture 1</a:t>
            </a:r>
            <a:r>
              <a:rPr b="1" lang="en-US"/>
              <a:t>7</a:t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Rod Cutting &amp; Rock Climbing</a:t>
            </a:r>
            <a:endParaRPr b="0" i="0" sz="2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228600" y="-38100"/>
            <a:ext cx="305593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Rod Cutting </a:t>
            </a:r>
            <a:endParaRPr/>
          </a:p>
        </p:txBody>
      </p:sp>
      <p:sp>
        <p:nvSpPr>
          <p:cNvPr id="106" name="Google Shape;106;p3"/>
          <p:cNvSpPr txBox="1"/>
          <p:nvPr>
            <p:ph idx="2" type="body"/>
          </p:nvPr>
        </p:nvSpPr>
        <p:spPr>
          <a:xfrm>
            <a:off x="298617" y="1175670"/>
            <a:ext cx="8707438" cy="539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Sterling Enterprises buys long steel rods and cuts them into shorter rods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which it then sells.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Each cut is free. The management of Serling enterprises wants to know the best way to cut up the rods.</a:t>
            </a:r>
            <a:endParaRPr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82" y="4113159"/>
            <a:ext cx="8859839" cy="1569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125" y="5845964"/>
            <a:ext cx="8133348" cy="501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617" y="2757878"/>
            <a:ext cx="8707436" cy="1005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-97631" y="-95751"/>
            <a:ext cx="305593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Rod Cutting </a:t>
            </a: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223" y="5241256"/>
            <a:ext cx="7297737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6638" y="70802"/>
            <a:ext cx="5947362" cy="68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107406"/>
            <a:ext cx="9144000" cy="2623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3730823"/>
            <a:ext cx="9144000" cy="925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2f06b7489_0_0"/>
          <p:cNvSpPr txBox="1"/>
          <p:nvPr>
            <p:ph type="title"/>
          </p:nvPr>
        </p:nvSpPr>
        <p:spPr>
          <a:xfrm>
            <a:off x="228600" y="-381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Rod Cutting</a:t>
            </a:r>
            <a:endParaRPr/>
          </a:p>
        </p:txBody>
      </p:sp>
      <p:sp>
        <p:nvSpPr>
          <p:cNvPr id="124" name="Google Shape;124;g322f06b7489_0_0"/>
          <p:cNvSpPr txBox="1"/>
          <p:nvPr/>
        </p:nvSpPr>
        <p:spPr>
          <a:xfrm>
            <a:off x="228600" y="1279089"/>
            <a:ext cx="823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g322f06b7489_0_0"/>
          <p:cNvPicPr preferRelativeResize="0"/>
          <p:nvPr/>
        </p:nvPicPr>
        <p:blipFill rotWithShape="1">
          <a:blip r:embed="rId3">
            <a:alphaModFix/>
          </a:blip>
          <a:srcRect b="14749" l="6125" r="8789" t="30783"/>
          <a:stretch/>
        </p:blipFill>
        <p:spPr>
          <a:xfrm>
            <a:off x="453450" y="2091775"/>
            <a:ext cx="8237101" cy="296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2f06b7489_1_1"/>
          <p:cNvSpPr txBox="1"/>
          <p:nvPr>
            <p:ph type="title"/>
          </p:nvPr>
        </p:nvSpPr>
        <p:spPr>
          <a:xfrm>
            <a:off x="228600" y="-381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Rod Cutting</a:t>
            </a:r>
            <a:endParaRPr/>
          </a:p>
        </p:txBody>
      </p:sp>
      <p:sp>
        <p:nvSpPr>
          <p:cNvPr id="131" name="Google Shape;131;g322f06b7489_1_1"/>
          <p:cNvSpPr txBox="1"/>
          <p:nvPr/>
        </p:nvSpPr>
        <p:spPr>
          <a:xfrm>
            <a:off x="228600" y="1279089"/>
            <a:ext cx="823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= 5m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22f06b7489_1_1"/>
          <p:cNvPicPr preferRelativeResize="0"/>
          <p:nvPr/>
        </p:nvPicPr>
        <p:blipFill rotWithShape="1">
          <a:blip r:embed="rId3">
            <a:alphaModFix/>
          </a:blip>
          <a:srcRect b="5838" l="0" r="4002" t="22077"/>
          <a:stretch/>
        </p:blipFill>
        <p:spPr>
          <a:xfrm>
            <a:off x="334300" y="1880425"/>
            <a:ext cx="8475402" cy="357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2f06b7489_1_8"/>
          <p:cNvSpPr txBox="1"/>
          <p:nvPr>
            <p:ph type="title"/>
          </p:nvPr>
        </p:nvSpPr>
        <p:spPr>
          <a:xfrm>
            <a:off x="228600" y="-381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Rod Cutting</a:t>
            </a:r>
            <a:endParaRPr/>
          </a:p>
        </p:txBody>
      </p:sp>
      <p:sp>
        <p:nvSpPr>
          <p:cNvPr id="138" name="Google Shape;138;g322f06b7489_1_8"/>
          <p:cNvSpPr txBox="1"/>
          <p:nvPr/>
        </p:nvSpPr>
        <p:spPr>
          <a:xfrm>
            <a:off x="228600" y="1279089"/>
            <a:ext cx="823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= 5m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22f06b7489_1_8"/>
          <p:cNvPicPr preferRelativeResize="0"/>
          <p:nvPr/>
        </p:nvPicPr>
        <p:blipFill rotWithShape="1">
          <a:blip r:embed="rId3">
            <a:alphaModFix/>
          </a:blip>
          <a:srcRect b="6042" l="0" r="3324" t="22283"/>
          <a:stretch/>
        </p:blipFill>
        <p:spPr>
          <a:xfrm>
            <a:off x="304125" y="1810025"/>
            <a:ext cx="8535750" cy="355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2f06b7489_1_15"/>
          <p:cNvSpPr txBox="1"/>
          <p:nvPr>
            <p:ph type="title"/>
          </p:nvPr>
        </p:nvSpPr>
        <p:spPr>
          <a:xfrm>
            <a:off x="228600" y="-381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Rod Cutting - how to cut?</a:t>
            </a:r>
            <a:endParaRPr/>
          </a:p>
        </p:txBody>
      </p:sp>
      <p:pic>
        <p:nvPicPr>
          <p:cNvPr id="145" name="Google Shape;145;g322f06b7489_1_15"/>
          <p:cNvPicPr preferRelativeResize="0"/>
          <p:nvPr/>
        </p:nvPicPr>
        <p:blipFill rotWithShape="1">
          <a:blip r:embed="rId3">
            <a:alphaModFix/>
          </a:blip>
          <a:srcRect b="5031" l="0" r="3324" t="15596"/>
          <a:stretch/>
        </p:blipFill>
        <p:spPr>
          <a:xfrm>
            <a:off x="228600" y="1761100"/>
            <a:ext cx="8535750" cy="394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2f06b7489_1_27"/>
          <p:cNvSpPr txBox="1"/>
          <p:nvPr>
            <p:ph type="title"/>
          </p:nvPr>
        </p:nvSpPr>
        <p:spPr>
          <a:xfrm>
            <a:off x="228600" y="-381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Rod Cutting - how to cut?</a:t>
            </a:r>
            <a:endParaRPr/>
          </a:p>
        </p:txBody>
      </p:sp>
      <p:pic>
        <p:nvPicPr>
          <p:cNvPr id="151" name="Google Shape;151;g322f06b7489_1_27"/>
          <p:cNvPicPr preferRelativeResize="0"/>
          <p:nvPr/>
        </p:nvPicPr>
        <p:blipFill rotWithShape="1">
          <a:blip r:embed="rId3">
            <a:alphaModFix/>
          </a:blip>
          <a:srcRect b="0" l="0" r="0" t="14755"/>
          <a:stretch/>
        </p:blipFill>
        <p:spPr>
          <a:xfrm>
            <a:off x="102125" y="1699400"/>
            <a:ext cx="8839200" cy="42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2f06b7489_1_34"/>
          <p:cNvSpPr txBox="1"/>
          <p:nvPr>
            <p:ph type="title"/>
          </p:nvPr>
        </p:nvSpPr>
        <p:spPr>
          <a:xfrm>
            <a:off x="228600" y="-38100"/>
            <a:ext cx="305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Rod Cutting </a:t>
            </a:r>
            <a:endParaRPr/>
          </a:p>
        </p:txBody>
      </p:sp>
      <p:pic>
        <p:nvPicPr>
          <p:cNvPr id="157" name="Google Shape;157;g322f06b7489_1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0338" y="6257925"/>
            <a:ext cx="7297738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22f06b7489_1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655" y="1717565"/>
            <a:ext cx="5164138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22f06b7489_1_34"/>
          <p:cNvSpPr txBox="1"/>
          <p:nvPr/>
        </p:nvSpPr>
        <p:spPr>
          <a:xfrm>
            <a:off x="3092701" y="1209675"/>
            <a:ext cx="5947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For n = 40, the program takes at least several minutes, and most likely more than an hour.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In fact, each time you increase n by 1, your program’s running time would approximately double.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322f06b7489_1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3956506"/>
            <a:ext cx="3802063" cy="22621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22f06b7489_1_34"/>
          <p:cNvSpPr txBox="1"/>
          <p:nvPr/>
        </p:nvSpPr>
        <p:spPr>
          <a:xfrm>
            <a:off x="3092701" y="2410368"/>
            <a:ext cx="542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this recursion tree has 2</a:t>
            </a:r>
            <a:r>
              <a:rPr b="0" baseline="30000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nodes and 2</a:t>
            </a:r>
            <a:r>
              <a:rPr b="0" baseline="30000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n-1 </a:t>
            </a:r>
            <a:r>
              <a:rPr b="0" i="0" lang="en-US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leaves.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22f06b7489_1_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96638" y="74171"/>
            <a:ext cx="5947363" cy="686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2f06b7489_1_44"/>
          <p:cNvSpPr txBox="1"/>
          <p:nvPr>
            <p:ph type="title"/>
          </p:nvPr>
        </p:nvSpPr>
        <p:spPr>
          <a:xfrm>
            <a:off x="-541020" y="-196189"/>
            <a:ext cx="7025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Rod Cutting – using DP</a:t>
            </a:r>
            <a:endParaRPr/>
          </a:p>
        </p:txBody>
      </p:sp>
      <p:pic>
        <p:nvPicPr>
          <p:cNvPr id="168" name="Google Shape;168;g322f06b7489_1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645" y="1104900"/>
            <a:ext cx="5164138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22f06b7489_1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7783" y="1700787"/>
            <a:ext cx="3772571" cy="226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22f06b7489_1_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2993" y="856016"/>
            <a:ext cx="5947363" cy="68668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22f06b7489_1_44"/>
          <p:cNvSpPr txBox="1"/>
          <p:nvPr/>
        </p:nvSpPr>
        <p:spPr>
          <a:xfrm>
            <a:off x="103645" y="4121064"/>
            <a:ext cx="86031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dynamic-programming method works as follows. Having observed that a naive recursive solution is inefficient because it solves the same subproblems repeatedly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arrange for each subproblem to be solved only </a:t>
            </a:r>
            <a:r>
              <a:rPr b="0" i="1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saving its solution.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need to refer to this subproblem’s solution again later, we can just look it up, rather than compute it.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2f06b7489_1_52"/>
          <p:cNvSpPr txBox="1"/>
          <p:nvPr>
            <p:ph type="title"/>
          </p:nvPr>
        </p:nvSpPr>
        <p:spPr>
          <a:xfrm>
            <a:off x="-541020" y="-196189"/>
            <a:ext cx="7025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Rod Cutting – using DP</a:t>
            </a:r>
            <a:endParaRPr/>
          </a:p>
        </p:txBody>
      </p:sp>
      <p:pic>
        <p:nvPicPr>
          <p:cNvPr id="177" name="Google Shape;177;g322f06b7489_1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645" y="1132473"/>
            <a:ext cx="5164138" cy="23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22f06b7489_1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184" y="1542698"/>
            <a:ext cx="3772571" cy="226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22f06b7489_1_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2993" y="856016"/>
            <a:ext cx="5947363" cy="68668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22f06b7489_1_52"/>
          <p:cNvSpPr txBox="1"/>
          <p:nvPr/>
        </p:nvSpPr>
        <p:spPr>
          <a:xfrm>
            <a:off x="103645" y="3675960"/>
            <a:ext cx="90075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programming thus uses additional memory to save computation time; it serves an example of a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time-memory trade-off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savings may be dramatic: an exponential-time solution may be transformed into a polynomial-time solution.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22f06b7489_1_52"/>
          <p:cNvSpPr txBox="1"/>
          <p:nvPr/>
        </p:nvSpPr>
        <p:spPr>
          <a:xfrm>
            <a:off x="236220" y="5492838"/>
            <a:ext cx="8804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dynamic-programming approach runs in </a:t>
            </a:r>
            <a:r>
              <a:rPr b="1" i="0" lang="en-US" sz="2000" u="none" cap="none" strike="noStrike">
                <a:solidFill>
                  <a:srgbClr val="990033"/>
                </a:solidFill>
                <a:latin typeface="Calibri"/>
                <a:ea typeface="Calibri"/>
                <a:cs typeface="Calibri"/>
                <a:sym typeface="Calibri"/>
              </a:rPr>
              <a:t>polynomial time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</a:t>
            </a:r>
            <a:r>
              <a:rPr b="1" i="0" lang="en-US" sz="2000" u="none" cap="none" strike="noStrike">
                <a:solidFill>
                  <a:srgbClr val="990033"/>
                </a:solidFill>
                <a:latin typeface="Calibri"/>
                <a:ea typeface="Calibri"/>
                <a:cs typeface="Calibri"/>
                <a:sym typeface="Calibri"/>
              </a:rPr>
              <a:t>number of distinct subproblems involved is polynomial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</a:t>
            </a: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input size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we can solve each such subproblem in polynomial 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>
            <p:ph type="title"/>
          </p:nvPr>
        </p:nvSpPr>
        <p:spPr>
          <a:xfrm>
            <a:off x="671513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Rock Climbing Problem</a:t>
            </a:r>
            <a:endParaRPr/>
          </a:p>
        </p:txBody>
      </p:sp>
      <p:sp>
        <p:nvSpPr>
          <p:cNvPr id="187" name="Google Shape;187;p19"/>
          <p:cNvSpPr txBox="1"/>
          <p:nvPr>
            <p:ph idx="1" type="body"/>
          </p:nvPr>
        </p:nvSpPr>
        <p:spPr>
          <a:xfrm>
            <a:off x="685800" y="1447800"/>
            <a:ext cx="5410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A rock climber wants to get from the bottom of a rock to the top by the safest possible path.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At every step, he reaches for handholds above him; some holds are safer than other.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From every place, he can only reach a few nearest handholds.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88" name="Google Shape;188;p19"/>
          <p:cNvPicPr preferRelativeResize="0"/>
          <p:nvPr>
            <p:ph idx="2" type="clipArt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0" y="2209800"/>
            <a:ext cx="2278063" cy="23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>
            <p:ph type="title"/>
          </p:nvPr>
        </p:nvSpPr>
        <p:spPr>
          <a:xfrm>
            <a:off x="700088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 (cont)</a:t>
            </a:r>
            <a:endParaRPr/>
          </a:p>
        </p:txBody>
      </p:sp>
      <p:pic>
        <p:nvPicPr>
          <p:cNvPr id="194" name="Google Shape;194;p2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1600200"/>
            <a:ext cx="3011488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457200" y="3505200"/>
            <a:ext cx="7924800" cy="1373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every step our climber can reach exactly three handholds: above, above and to the right and above and to the left.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57200" y="1676400"/>
            <a:ext cx="4038600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we have a wall instead of the rock.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57200" y="5334000"/>
            <a:ext cx="8229600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a table of “danger ratings” provided. The “Danger” of a path is the sum of danger ratings of all handholds on the path.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 rot="10800000">
            <a:off x="5410200" y="2209800"/>
            <a:ext cx="762000" cy="685800"/>
          </a:xfrm>
          <a:prstGeom prst="straightConnector1">
            <a:avLst/>
          </a:prstGeom>
          <a:noFill/>
          <a:ln cap="flat" cmpd="sng" w="57150">
            <a:solidFill>
              <a:srgbClr val="DD011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9" name="Google Shape;199;p20"/>
          <p:cNvCxnSpPr/>
          <p:nvPr/>
        </p:nvCxnSpPr>
        <p:spPr>
          <a:xfrm flipH="1" rot="10800000">
            <a:off x="6324600" y="2362200"/>
            <a:ext cx="228600" cy="533400"/>
          </a:xfrm>
          <a:prstGeom prst="straightConnector1">
            <a:avLst/>
          </a:prstGeom>
          <a:noFill/>
          <a:ln cap="flat" cmpd="sng" w="57150">
            <a:solidFill>
              <a:srgbClr val="DD011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" name="Google Shape;200;p20"/>
          <p:cNvCxnSpPr/>
          <p:nvPr/>
        </p:nvCxnSpPr>
        <p:spPr>
          <a:xfrm flipH="1" rot="10800000">
            <a:off x="6553200" y="2362200"/>
            <a:ext cx="1676400" cy="533400"/>
          </a:xfrm>
          <a:prstGeom prst="straightConnector1">
            <a:avLst/>
          </a:prstGeom>
          <a:noFill/>
          <a:ln cap="flat" cmpd="sng" w="57150">
            <a:solidFill>
              <a:srgbClr val="DD0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" name="Google Shape;201;p20"/>
          <p:cNvSpPr txBox="1"/>
          <p:nvPr/>
        </p:nvSpPr>
        <p:spPr>
          <a:xfrm>
            <a:off x="5321600" y="1676400"/>
            <a:ext cx="244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7907350" y="1733550"/>
            <a:ext cx="36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705600" y="2057400"/>
            <a:ext cx="3619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553200" y="3200400"/>
            <a:ext cx="3619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type="title"/>
          </p:nvPr>
        </p:nvSpPr>
        <p:spPr>
          <a:xfrm>
            <a:off x="6096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 (cont)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57200" y="1524000"/>
            <a:ext cx="5197475" cy="201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represent the wall as a 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cell of the table contains the danger rating of the corresponding block.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1" name="Google Shape;211;p21"/>
          <p:cNvGraphicFramePr/>
          <p:nvPr/>
        </p:nvGraphicFramePr>
        <p:xfrm>
          <a:off x="59436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473075"/>
                <a:gridCol w="471500"/>
                <a:gridCol w="473075"/>
                <a:gridCol w="471475"/>
                <a:gridCol w="473075"/>
              </a:tblGrid>
              <a:tr h="51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1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1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1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21"/>
          <p:cNvSpPr txBox="1"/>
          <p:nvPr/>
        </p:nvSpPr>
        <p:spPr>
          <a:xfrm>
            <a:off x="457200" y="3886200"/>
            <a:ext cx="7788275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obvious greedy algorithm does not give 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optimal solution.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6477000" y="3200400"/>
            <a:ext cx="361950" cy="476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943600" y="2667000"/>
            <a:ext cx="361950" cy="476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6477000" y="2133600"/>
            <a:ext cx="361950" cy="476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6019800" y="1600200"/>
            <a:ext cx="361950" cy="476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3124200" y="4267200"/>
            <a:ext cx="4621213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rating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of this path is 13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33400" y="4800600"/>
            <a:ext cx="57229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rating of an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optimal path is 12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7467600" y="3200400"/>
            <a:ext cx="304800" cy="476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7848600" y="2667000"/>
            <a:ext cx="361950" cy="476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7391400" y="2133600"/>
            <a:ext cx="361950" cy="476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7391400" y="1600200"/>
            <a:ext cx="381000" cy="4762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57200" y="5486400"/>
            <a:ext cx="7712075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However, we can solve this problem by a dynamic programming strategy in polynomial 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>
            <p:ph idx="4294967295" type="ctrTitle"/>
          </p:nvPr>
        </p:nvSpPr>
        <p:spPr>
          <a:xfrm>
            <a:off x="714375" y="17097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Idea: once we know the rating of a path to every handhold on a layer, we can easily compute the ratings of the paths to the holds on the next layer. 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/>
          <p:cNvSpPr txBox="1"/>
          <p:nvPr>
            <p:ph idx="4294967295" type="subTitle"/>
          </p:nvPr>
        </p:nvSpPr>
        <p:spPr>
          <a:xfrm>
            <a:off x="1143000" y="48768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For the top  layer, that gives us an answer to the problem itself.</a:t>
            </a:r>
            <a:endParaRPr b="0" i="0" sz="2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 txBox="1"/>
          <p:nvPr>
            <p:ph idx="4294967295" type="ctrTitle"/>
          </p:nvPr>
        </p:nvSpPr>
        <p:spPr>
          <a:xfrm>
            <a:off x="671513" y="201136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every handhold, there is only one “path” rating. Once we have reached a hold, we don’t need to know how we got there to move to the next level. 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 txBox="1"/>
          <p:nvPr>
            <p:ph idx="4294967295" type="subTitle"/>
          </p:nvPr>
        </p:nvSpPr>
        <p:spPr>
          <a:xfrm>
            <a:off x="609600" y="4038600"/>
            <a:ext cx="7848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This is called an “optimal substructure” property. Once we know optimal solutions to subproblems, we can compute an optimal solution to the problem itself.</a:t>
            </a:r>
            <a:endParaRPr b="0" i="0" sz="2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/>
          <p:nvPr>
            <p:ph idx="4294967295" type="ctrTitle"/>
          </p:nvPr>
        </p:nvSpPr>
        <p:spPr>
          <a:xfrm>
            <a:off x="6096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Recursive solution: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457200" y="1828800"/>
            <a:ext cx="7924800" cy="2528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find the best way to get to stone j in row i, check the cost of getting to the stones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(i-1,j-1),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(i-1,j) 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(i-1,j+1), and take the cheapest.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454025" y="5126038"/>
            <a:ext cx="79248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Problem: each recursion level makes three calls for itself, making a total of 3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calls – too much!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idx="4294967295" type="ctrTitle"/>
          </p:nvPr>
        </p:nvSpPr>
        <p:spPr>
          <a:xfrm>
            <a:off x="595313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 - memorization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457200" y="1828800"/>
            <a:ext cx="7924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query the value of A(i,j) over and over again.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457200" y="3124200"/>
            <a:ext cx="7924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 of computing it each time, we can compute it once, and </a:t>
            </a: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remember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5"/>
          <p:cNvSpPr txBox="1"/>
          <p:nvPr/>
        </p:nvSpPr>
        <p:spPr>
          <a:xfrm>
            <a:off x="533400" y="4724400"/>
            <a:ext cx="7924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simple recurrence allows us to compute A(i,j) from values below.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Dynamic programming </a:t>
            </a:r>
            <a:endParaRPr/>
          </a:p>
        </p:txBody>
      </p:sp>
      <p:sp>
        <p:nvSpPr>
          <p:cNvPr id="256" name="Google Shape;256;p26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>
                <a:solidFill>
                  <a:schemeClr val="dk2"/>
                </a:solidFill>
              </a:rPr>
              <a:t>Step 1:</a:t>
            </a:r>
            <a:r>
              <a:rPr lang="en-US"/>
              <a:t> Describe an array of values you want to compute. 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>
                <a:solidFill>
                  <a:schemeClr val="dk2"/>
                </a:solidFill>
              </a:rPr>
              <a:t>Step 2:</a:t>
            </a:r>
            <a:r>
              <a:rPr lang="en-US"/>
              <a:t> Give a recurrence for computing later values from earlier (bottom-up).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>
                <a:solidFill>
                  <a:schemeClr val="dk2"/>
                </a:solidFill>
              </a:rPr>
              <a:t>Step 3:</a:t>
            </a:r>
            <a:r>
              <a:rPr lang="en-US"/>
              <a:t> Give a high-level program.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>
                <a:solidFill>
                  <a:schemeClr val="dk2"/>
                </a:solidFill>
              </a:rPr>
              <a:t>Step 4:</a:t>
            </a:r>
            <a:r>
              <a:rPr lang="en-US"/>
              <a:t> Show how to use values in the array to compute an optimal solution.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climbing: step 1.</a:t>
            </a:r>
            <a:endParaRPr/>
          </a:p>
        </p:txBody>
      </p:sp>
      <p:sp>
        <p:nvSpPr>
          <p:cNvPr id="262" name="Google Shape;262;p27"/>
          <p:cNvSpPr txBox="1"/>
          <p:nvPr>
            <p:ph idx="1" type="body"/>
          </p:nvPr>
        </p:nvSpPr>
        <p:spPr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i="1" lang="en-US">
                <a:solidFill>
                  <a:schemeClr val="dk2"/>
                </a:solidFill>
              </a:rPr>
              <a:t>Step 1:</a:t>
            </a:r>
            <a:r>
              <a:rPr i="1" lang="en-US"/>
              <a:t> Describe an array of values you want to compute.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 i="1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For </a:t>
            </a:r>
            <a:r>
              <a:rPr i="1" lang="en-US"/>
              <a:t> 1 ≤ i ≤ n </a:t>
            </a:r>
            <a:r>
              <a:rPr lang="en-US"/>
              <a:t>and</a:t>
            </a:r>
            <a:r>
              <a:rPr i="1" lang="en-US"/>
              <a:t> 1 ≤ j ≤ m,  </a:t>
            </a:r>
            <a:r>
              <a:rPr lang="en-US"/>
              <a:t>define</a:t>
            </a:r>
            <a:r>
              <a:rPr i="1" lang="en-US"/>
              <a:t> A(i,j) </a:t>
            </a:r>
            <a:r>
              <a:rPr lang="en-US"/>
              <a:t>to be the </a:t>
            </a:r>
            <a:r>
              <a:rPr lang="en-US">
                <a:solidFill>
                  <a:srgbClr val="CC0000"/>
                </a:solidFill>
              </a:rPr>
              <a:t>cumulative rating of the least dangerous path</a:t>
            </a:r>
            <a:r>
              <a:rPr lang="en-US"/>
              <a:t> from the bottom to the hold </a:t>
            </a:r>
            <a:r>
              <a:rPr i="1" lang="en-US"/>
              <a:t>(i,j).</a:t>
            </a:r>
            <a:r>
              <a:rPr lang="en-US"/>
              <a:t> 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The rating of the best path to the top will be the minimal value in the last row of the array.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climbing: step 2.</a:t>
            </a:r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457200" y="1447800"/>
            <a:ext cx="8458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2"/>
                </a:solidFill>
              </a:rPr>
              <a:t>Step 2:</a:t>
            </a:r>
            <a:r>
              <a:rPr i="1" lang="en-US" sz="2400"/>
              <a:t> Give a recurrence for computing later values from earlier (bottom-up).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i="1"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Let C(i,j) be the rating of the hold </a:t>
            </a:r>
            <a:r>
              <a:rPr i="1" lang="en-US" sz="2400"/>
              <a:t>(i,j). </a:t>
            </a:r>
            <a:r>
              <a:rPr lang="en-US" sz="2400"/>
              <a:t>There are three cases for</a:t>
            </a:r>
            <a:r>
              <a:rPr i="1" lang="en-US" sz="2400"/>
              <a:t> A(i,j):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i="1"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Left </a:t>
            </a:r>
            <a:r>
              <a:rPr i="1" lang="en-US" sz="2400"/>
              <a:t>(j=1): C(i,j)+min{</a:t>
            </a:r>
            <a:r>
              <a:rPr i="1" lang="en-US" sz="2400">
                <a:solidFill>
                  <a:srgbClr val="0000FF"/>
                </a:solidFill>
              </a:rPr>
              <a:t>A(i-1,j)</a:t>
            </a:r>
            <a:r>
              <a:rPr i="1" lang="en-US" sz="2400"/>
              <a:t>,</a:t>
            </a:r>
            <a:r>
              <a:rPr i="1" lang="en-US" sz="2400">
                <a:solidFill>
                  <a:srgbClr val="0000FF"/>
                </a:solidFill>
              </a:rPr>
              <a:t>A(i-1,j+1</a:t>
            </a:r>
            <a:r>
              <a:rPr i="1" lang="en-US" sz="2400"/>
              <a:t>)}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i="1"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Right</a:t>
            </a:r>
            <a:r>
              <a:rPr i="1" lang="en-US" sz="2400"/>
              <a:t> (j=m): C(i,j)+min{</a:t>
            </a:r>
            <a:r>
              <a:rPr i="1" lang="en-US" sz="2400">
                <a:solidFill>
                  <a:srgbClr val="0000FF"/>
                </a:solidFill>
              </a:rPr>
              <a:t>A(i-1,j-1)</a:t>
            </a:r>
            <a:r>
              <a:rPr i="1" lang="en-US" sz="2400"/>
              <a:t>,</a:t>
            </a:r>
            <a:r>
              <a:rPr i="1" lang="en-US" sz="2400">
                <a:solidFill>
                  <a:srgbClr val="0000FF"/>
                </a:solidFill>
              </a:rPr>
              <a:t>A(i-1,j)</a:t>
            </a:r>
            <a:r>
              <a:rPr i="1" lang="en-US" sz="2400"/>
              <a:t>}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i="1"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Middle:</a:t>
            </a:r>
            <a:r>
              <a:rPr i="1" lang="en-US" sz="2400"/>
              <a:t> C(i,j)+min{</a:t>
            </a:r>
            <a:r>
              <a:rPr i="1" lang="en-US" sz="2400">
                <a:solidFill>
                  <a:srgbClr val="0000FF"/>
                </a:solidFill>
              </a:rPr>
              <a:t>A(i-1,j-1)</a:t>
            </a:r>
            <a:r>
              <a:rPr i="1" lang="en-US" sz="2400"/>
              <a:t>,</a:t>
            </a:r>
            <a:r>
              <a:rPr i="1" lang="en-US" sz="2400">
                <a:solidFill>
                  <a:srgbClr val="0000FF"/>
                </a:solidFill>
              </a:rPr>
              <a:t>A(i-1,j)</a:t>
            </a:r>
            <a:r>
              <a:rPr i="1" lang="en-US" sz="2400"/>
              <a:t>,</a:t>
            </a:r>
            <a:r>
              <a:rPr i="1" lang="en-US" sz="2400">
                <a:solidFill>
                  <a:srgbClr val="0000FF"/>
                </a:solidFill>
              </a:rPr>
              <a:t>A(i-1,j+1)</a:t>
            </a:r>
            <a:r>
              <a:rPr i="1" lang="en-US" sz="2400"/>
              <a:t>}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i="1"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For the first row</a:t>
            </a:r>
            <a:r>
              <a:rPr i="1" lang="en-US" sz="2400"/>
              <a:t> (i=1), A(i,j)=C(i,j).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i="1"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climbing: simpler step 2</a:t>
            </a:r>
            <a:endParaRPr/>
          </a:p>
        </p:txBody>
      </p:sp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762000" y="1371600"/>
            <a:ext cx="777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Add initialization row: </a:t>
            </a:r>
            <a:r>
              <a:rPr i="1" lang="en-US"/>
              <a:t>A(0,j)=0</a:t>
            </a:r>
            <a:r>
              <a:rPr lang="en-US"/>
              <a:t>. No danger to stand on the ground. 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Add two initialization columns:         A(i,0)=A(i,m+1)=∞. It is infinitely dangerous to try to hold on to the air where the wall ends. 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Now the recurrence becomes, for every i,j: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 i="1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i="1" lang="en-US"/>
              <a:t>A(i,j) = C(i,j)+min{A(i-1,j-1),A(i-1,j),A(i-1,j+1)}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/>
          <p:nvPr>
            <p:ph type="title"/>
          </p:nvPr>
        </p:nvSpPr>
        <p:spPr>
          <a:xfrm>
            <a:off x="658813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climbing: example</a:t>
            </a:r>
            <a:endParaRPr/>
          </a:p>
        </p:txBody>
      </p:sp>
      <p:sp>
        <p:nvSpPr>
          <p:cNvPr id="280" name="Google Shape;280;p30"/>
          <p:cNvSpPr txBox="1"/>
          <p:nvPr/>
        </p:nvSpPr>
        <p:spPr>
          <a:xfrm>
            <a:off x="1203325" y="13208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5622925" y="12446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2" name="Google Shape;282;p30"/>
          <p:cNvGraphicFramePr/>
          <p:nvPr/>
        </p:nvGraphicFramePr>
        <p:xfrm>
          <a:off x="4114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3" name="Google Shape;283;p30"/>
          <p:cNvGraphicFramePr/>
          <p:nvPr/>
        </p:nvGraphicFramePr>
        <p:xfrm>
          <a:off x="4114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4" name="Google Shape;284;p30"/>
          <p:cNvSpPr txBox="1"/>
          <p:nvPr/>
        </p:nvSpPr>
        <p:spPr>
          <a:xfrm>
            <a:off x="822325" y="5581650"/>
            <a:ext cx="645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Initialization: A(i,0)=A(i,m+1)=∞, 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A(0,j)=0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5" name="Google Shape;285;p30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66675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climbing: example</a:t>
            </a:r>
            <a:endParaRPr/>
          </a:p>
        </p:txBody>
      </p:sp>
      <p:graphicFrame>
        <p:nvGraphicFramePr>
          <p:cNvPr id="291" name="Google Shape;291;p31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2" name="Google Shape;292;p31"/>
          <p:cNvSpPr txBox="1"/>
          <p:nvPr/>
        </p:nvSpPr>
        <p:spPr>
          <a:xfrm>
            <a:off x="1203325" y="13208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5622925" y="12446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4" name="Google Shape;294;p31"/>
          <p:cNvGraphicFramePr/>
          <p:nvPr/>
        </p:nvGraphicFramePr>
        <p:xfrm>
          <a:off x="4114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DD011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5" name="Google Shape;295;p31"/>
          <p:cNvSpPr txBox="1"/>
          <p:nvPr/>
        </p:nvSpPr>
        <p:spPr>
          <a:xfrm>
            <a:off x="822325" y="5588000"/>
            <a:ext cx="71088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values in the first row are the same as C(i,j).</a:t>
            </a:r>
            <a:endParaRPr b="0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6" name="Google Shape;296;p31"/>
          <p:cNvGraphicFramePr/>
          <p:nvPr/>
        </p:nvGraphicFramePr>
        <p:xfrm>
          <a:off x="4114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rgbClr val="CC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 txBox="1"/>
          <p:nvPr>
            <p:ph type="title"/>
          </p:nvPr>
        </p:nvSpPr>
        <p:spPr>
          <a:xfrm>
            <a:off x="6604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climbing: example</a:t>
            </a:r>
            <a:endParaRPr/>
          </a:p>
        </p:txBody>
      </p:sp>
      <p:graphicFrame>
        <p:nvGraphicFramePr>
          <p:cNvPr id="302" name="Google Shape;302;p32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3" name="Google Shape;303;p32"/>
          <p:cNvSpPr txBox="1"/>
          <p:nvPr/>
        </p:nvSpPr>
        <p:spPr>
          <a:xfrm>
            <a:off x="1203325" y="13208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2"/>
          <p:cNvSpPr txBox="1"/>
          <p:nvPr/>
        </p:nvSpPr>
        <p:spPr>
          <a:xfrm>
            <a:off x="5622925" y="12446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2"/>
          <p:cNvSpPr txBox="1"/>
          <p:nvPr/>
        </p:nvSpPr>
        <p:spPr>
          <a:xfrm>
            <a:off x="822325" y="5581650"/>
            <a:ext cx="38512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A(2,1)=5+min{∞,3,2}=7.</a:t>
            </a:r>
            <a:endParaRPr b="0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6" name="Google Shape;306;p32"/>
          <p:cNvGraphicFramePr/>
          <p:nvPr/>
        </p:nvGraphicFramePr>
        <p:xfrm>
          <a:off x="4114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 txBox="1"/>
          <p:nvPr>
            <p:ph type="title"/>
          </p:nvPr>
        </p:nvSpPr>
        <p:spPr>
          <a:xfrm>
            <a:off x="73025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climbing: example</a:t>
            </a:r>
            <a:endParaRPr/>
          </a:p>
        </p:txBody>
      </p:sp>
      <p:graphicFrame>
        <p:nvGraphicFramePr>
          <p:cNvPr id="312" name="Google Shape;312;p33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3" name="Google Shape;313;p33"/>
          <p:cNvSpPr txBox="1"/>
          <p:nvPr/>
        </p:nvSpPr>
        <p:spPr>
          <a:xfrm>
            <a:off x="1203325" y="13208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5622925" y="12446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3"/>
          <p:cNvSpPr txBox="1"/>
          <p:nvPr/>
        </p:nvSpPr>
        <p:spPr>
          <a:xfrm>
            <a:off x="822325" y="5581650"/>
            <a:ext cx="7531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A(2,1)=5+min{∞,3,2}=7. A(2,2)=7+min{3,2,5}=9 </a:t>
            </a:r>
            <a:endParaRPr b="0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6" name="Google Shape;316;p33"/>
          <p:cNvGraphicFramePr/>
          <p:nvPr/>
        </p:nvGraphicFramePr>
        <p:xfrm>
          <a:off x="4114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"/>
          <p:cNvSpPr txBox="1"/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climbing: example</a:t>
            </a:r>
            <a:endParaRPr/>
          </a:p>
        </p:txBody>
      </p:sp>
      <p:graphicFrame>
        <p:nvGraphicFramePr>
          <p:cNvPr id="322" name="Google Shape;322;p34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3" name="Google Shape;323;p34"/>
          <p:cNvSpPr txBox="1"/>
          <p:nvPr/>
        </p:nvSpPr>
        <p:spPr>
          <a:xfrm>
            <a:off x="1203325" y="13208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4"/>
          <p:cNvSpPr txBox="1"/>
          <p:nvPr/>
        </p:nvSpPr>
        <p:spPr>
          <a:xfrm>
            <a:off x="5622925" y="12446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4"/>
          <p:cNvSpPr txBox="1"/>
          <p:nvPr/>
        </p:nvSpPr>
        <p:spPr>
          <a:xfrm>
            <a:off x="822325" y="5581650"/>
            <a:ext cx="7442200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A(2,1)=5+min{∞,3,2}=7. A(2,2)=7+min{3,2,5}=9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A(2,3)=5+min{2,5,4}=7.  </a:t>
            </a:r>
            <a:endParaRPr b="0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6" name="Google Shape;326;p34"/>
          <p:cNvGraphicFramePr/>
          <p:nvPr/>
        </p:nvGraphicFramePr>
        <p:xfrm>
          <a:off x="4114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5"/>
          <p:cNvSpPr txBox="1"/>
          <p:nvPr>
            <p:ph type="title"/>
          </p:nvPr>
        </p:nvSpPr>
        <p:spPr>
          <a:xfrm>
            <a:off x="703263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climbing: example</a:t>
            </a:r>
            <a:endParaRPr/>
          </a:p>
        </p:txBody>
      </p:sp>
      <p:graphicFrame>
        <p:nvGraphicFramePr>
          <p:cNvPr id="332" name="Google Shape;332;p35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3" name="Google Shape;333;p35"/>
          <p:cNvSpPr txBox="1"/>
          <p:nvPr/>
        </p:nvSpPr>
        <p:spPr>
          <a:xfrm>
            <a:off x="1203325" y="13208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5"/>
          <p:cNvSpPr txBox="1"/>
          <p:nvPr/>
        </p:nvSpPr>
        <p:spPr>
          <a:xfrm>
            <a:off x="5622925" y="12446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5"/>
          <p:cNvSpPr txBox="1"/>
          <p:nvPr/>
        </p:nvSpPr>
        <p:spPr>
          <a:xfrm>
            <a:off x="822325" y="5588000"/>
            <a:ext cx="734536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best cumulative rating on the second row is 5.</a:t>
            </a:r>
            <a:endParaRPr b="0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6" name="Google Shape;336;p35"/>
          <p:cNvGraphicFramePr/>
          <p:nvPr/>
        </p:nvGraphicFramePr>
        <p:xfrm>
          <a:off x="4114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/>
          <p:nvPr>
            <p:ph type="title"/>
          </p:nvPr>
        </p:nvSpPr>
        <p:spPr>
          <a:xfrm>
            <a:off x="712788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climbing: example</a:t>
            </a:r>
            <a:endParaRPr/>
          </a:p>
        </p:txBody>
      </p:sp>
      <p:graphicFrame>
        <p:nvGraphicFramePr>
          <p:cNvPr id="342" name="Google Shape;342;p36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3" name="Google Shape;343;p36"/>
          <p:cNvSpPr txBox="1"/>
          <p:nvPr/>
        </p:nvSpPr>
        <p:spPr>
          <a:xfrm>
            <a:off x="1203325" y="13208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6"/>
          <p:cNvSpPr txBox="1"/>
          <p:nvPr/>
        </p:nvSpPr>
        <p:spPr>
          <a:xfrm>
            <a:off x="5622925" y="12446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6"/>
          <p:cNvSpPr txBox="1"/>
          <p:nvPr/>
        </p:nvSpPr>
        <p:spPr>
          <a:xfrm>
            <a:off x="822325" y="5588000"/>
            <a:ext cx="703103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best cumulative rating on the third row is 7.</a:t>
            </a:r>
            <a:endParaRPr b="0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6" name="Google Shape;346;p36"/>
          <p:cNvGraphicFramePr/>
          <p:nvPr/>
        </p:nvGraphicFramePr>
        <p:xfrm>
          <a:off x="4114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"/>
          <p:cNvSpPr txBox="1"/>
          <p:nvPr>
            <p:ph type="title"/>
          </p:nvPr>
        </p:nvSpPr>
        <p:spPr>
          <a:xfrm>
            <a:off x="7112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climbing: example</a:t>
            </a:r>
            <a:endParaRPr/>
          </a:p>
        </p:txBody>
      </p:sp>
      <p:graphicFrame>
        <p:nvGraphicFramePr>
          <p:cNvPr id="352" name="Google Shape;352;p37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3" name="Google Shape;353;p37"/>
          <p:cNvSpPr txBox="1"/>
          <p:nvPr/>
        </p:nvSpPr>
        <p:spPr>
          <a:xfrm>
            <a:off x="1203325" y="13208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7"/>
          <p:cNvSpPr txBox="1"/>
          <p:nvPr/>
        </p:nvSpPr>
        <p:spPr>
          <a:xfrm>
            <a:off x="5622925" y="12446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7"/>
          <p:cNvSpPr txBox="1"/>
          <p:nvPr/>
        </p:nvSpPr>
        <p:spPr>
          <a:xfrm>
            <a:off x="838200" y="5410200"/>
            <a:ext cx="7029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best cumulative rating on the last row is 12.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6" name="Google Shape;356;p37"/>
          <p:cNvGraphicFramePr/>
          <p:nvPr/>
        </p:nvGraphicFramePr>
        <p:xfrm>
          <a:off x="4114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011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DD011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8"/>
          <p:cNvSpPr txBox="1"/>
          <p:nvPr>
            <p:ph type="title"/>
          </p:nvPr>
        </p:nvSpPr>
        <p:spPr>
          <a:xfrm>
            <a:off x="75565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climbing: example</a:t>
            </a:r>
            <a:endParaRPr/>
          </a:p>
        </p:txBody>
      </p:sp>
      <p:graphicFrame>
        <p:nvGraphicFramePr>
          <p:cNvPr id="362" name="Google Shape;362;p38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3" name="Google Shape;363;p38"/>
          <p:cNvSpPr txBox="1"/>
          <p:nvPr/>
        </p:nvSpPr>
        <p:spPr>
          <a:xfrm>
            <a:off x="1203325" y="13208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8"/>
          <p:cNvSpPr txBox="1"/>
          <p:nvPr/>
        </p:nvSpPr>
        <p:spPr>
          <a:xfrm>
            <a:off x="5622925" y="12446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8"/>
          <p:cNvSpPr txBox="1"/>
          <p:nvPr/>
        </p:nvSpPr>
        <p:spPr>
          <a:xfrm>
            <a:off x="838200" y="5410200"/>
            <a:ext cx="7029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best cumulative rating on the last row is 12.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6" name="Google Shape;366;p38"/>
          <p:cNvGraphicFramePr/>
          <p:nvPr/>
        </p:nvGraphicFramePr>
        <p:xfrm>
          <a:off x="4114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7" name="Google Shape;367;p38"/>
          <p:cNvSpPr txBox="1"/>
          <p:nvPr/>
        </p:nvSpPr>
        <p:spPr>
          <a:xfrm>
            <a:off x="990600" y="5997575"/>
            <a:ext cx="6646863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So the rating of the best path to the top is 12.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712788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 example: step 4</a:t>
            </a:r>
            <a:endParaRPr/>
          </a:p>
        </p:txBody>
      </p:sp>
      <p:graphicFrame>
        <p:nvGraphicFramePr>
          <p:cNvPr id="373" name="Google Shape;373;p39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4" name="Google Shape;374;p39"/>
          <p:cNvSpPr txBox="1"/>
          <p:nvPr/>
        </p:nvSpPr>
        <p:spPr>
          <a:xfrm>
            <a:off x="1203325" y="13208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9"/>
          <p:cNvSpPr txBox="1"/>
          <p:nvPr/>
        </p:nvSpPr>
        <p:spPr>
          <a:xfrm>
            <a:off x="5622925" y="12446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6" name="Google Shape;376;p39"/>
          <p:cNvGraphicFramePr/>
          <p:nvPr/>
        </p:nvGraphicFramePr>
        <p:xfrm>
          <a:off x="41148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7" name="Google Shape;377;p39"/>
          <p:cNvSpPr txBox="1"/>
          <p:nvPr/>
        </p:nvSpPr>
        <p:spPr>
          <a:xfrm>
            <a:off x="381000" y="5867400"/>
            <a:ext cx="8012113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find the actual path we need to retrace backwards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decisions made during the calculation of A(i,j).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703263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 example: step 4</a:t>
            </a:r>
            <a:endParaRPr/>
          </a:p>
        </p:txBody>
      </p:sp>
      <p:graphicFrame>
        <p:nvGraphicFramePr>
          <p:cNvPr id="383" name="Google Shape;383;p40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384" name="Google Shape;384;p40"/>
          <p:cNvSpPr txBox="1"/>
          <p:nvPr/>
        </p:nvSpPr>
        <p:spPr>
          <a:xfrm>
            <a:off x="1219200" y="12192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0"/>
          <p:cNvSpPr txBox="1"/>
          <p:nvPr/>
        </p:nvSpPr>
        <p:spPr>
          <a:xfrm>
            <a:off x="5638800" y="12192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6" name="Google Shape;386;p40"/>
          <p:cNvGraphicFramePr/>
          <p:nvPr/>
        </p:nvGraphicFramePr>
        <p:xfrm>
          <a:off x="41148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7" name="Google Shape;387;p40"/>
          <p:cNvSpPr txBox="1"/>
          <p:nvPr/>
        </p:nvSpPr>
        <p:spPr>
          <a:xfrm>
            <a:off x="152400" y="4495800"/>
            <a:ext cx="3886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The last hold was (4,4).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0"/>
          <p:cNvSpPr txBox="1"/>
          <p:nvPr/>
        </p:nvSpPr>
        <p:spPr>
          <a:xfrm>
            <a:off x="381000" y="5867400"/>
            <a:ext cx="8012113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find the actual path we need to retrace backwards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decisions made during the calculation of A(i,j).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"/>
          <p:cNvSpPr txBox="1"/>
          <p:nvPr>
            <p:ph type="title"/>
          </p:nvPr>
        </p:nvSpPr>
        <p:spPr>
          <a:xfrm>
            <a:off x="739775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 example: step 4</a:t>
            </a:r>
            <a:endParaRPr/>
          </a:p>
        </p:txBody>
      </p:sp>
      <p:graphicFrame>
        <p:nvGraphicFramePr>
          <p:cNvPr id="394" name="Google Shape;394;p41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395" name="Google Shape;395;p41"/>
          <p:cNvSpPr txBox="1"/>
          <p:nvPr/>
        </p:nvSpPr>
        <p:spPr>
          <a:xfrm>
            <a:off x="1219200" y="12192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1"/>
          <p:cNvSpPr txBox="1"/>
          <p:nvPr/>
        </p:nvSpPr>
        <p:spPr>
          <a:xfrm>
            <a:off x="5638800" y="12192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7" name="Google Shape;397;p41"/>
          <p:cNvGraphicFramePr/>
          <p:nvPr/>
        </p:nvGraphicFramePr>
        <p:xfrm>
          <a:off x="41148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8" name="Google Shape;398;p41"/>
          <p:cNvSpPr txBox="1"/>
          <p:nvPr/>
        </p:nvSpPr>
        <p:spPr>
          <a:xfrm>
            <a:off x="152400" y="4343400"/>
            <a:ext cx="3733800" cy="1077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The hold before the 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was  (3,4), since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min{13,7,8} was 7.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1"/>
          <p:cNvSpPr txBox="1"/>
          <p:nvPr/>
        </p:nvSpPr>
        <p:spPr>
          <a:xfrm>
            <a:off x="609600" y="5791200"/>
            <a:ext cx="8012113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find the actual path we need to retrace backwards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decisions made during the calculation of A(i,j).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2"/>
          <p:cNvSpPr txBox="1"/>
          <p:nvPr>
            <p:ph type="title"/>
          </p:nvPr>
        </p:nvSpPr>
        <p:spPr>
          <a:xfrm>
            <a:off x="676275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 example: step 4</a:t>
            </a:r>
            <a:endParaRPr/>
          </a:p>
        </p:txBody>
      </p:sp>
      <p:graphicFrame>
        <p:nvGraphicFramePr>
          <p:cNvPr id="405" name="Google Shape;405;p42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06" name="Google Shape;406;p42"/>
          <p:cNvSpPr txBox="1"/>
          <p:nvPr/>
        </p:nvSpPr>
        <p:spPr>
          <a:xfrm>
            <a:off x="1219200" y="12192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2"/>
          <p:cNvSpPr txBox="1"/>
          <p:nvPr/>
        </p:nvSpPr>
        <p:spPr>
          <a:xfrm>
            <a:off x="5638800" y="12192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2"/>
          <p:cNvSpPr txBox="1"/>
          <p:nvPr/>
        </p:nvSpPr>
        <p:spPr>
          <a:xfrm>
            <a:off x="381000" y="5867400"/>
            <a:ext cx="8012113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find the actual path we need to retrace backwards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decisions made during the calculation of A(i,j).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9" name="Google Shape;409;p42"/>
          <p:cNvGraphicFramePr/>
          <p:nvPr/>
        </p:nvGraphicFramePr>
        <p:xfrm>
          <a:off x="41148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0" name="Google Shape;410;p42"/>
          <p:cNvSpPr txBox="1"/>
          <p:nvPr/>
        </p:nvSpPr>
        <p:spPr>
          <a:xfrm>
            <a:off x="152400" y="4343400"/>
            <a:ext cx="3733800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The hold before that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was  (2,5), since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min{7,10,5} was 5.</a:t>
            </a:r>
            <a:r>
              <a:rPr b="0" i="0" lang="en-US" sz="2800" u="none" cap="none" strike="noStrik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3"/>
          <p:cNvSpPr txBox="1"/>
          <p:nvPr>
            <p:ph type="title"/>
          </p:nvPr>
        </p:nvSpPr>
        <p:spPr>
          <a:xfrm>
            <a:off x="703263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 example: step 4</a:t>
            </a:r>
            <a:endParaRPr/>
          </a:p>
        </p:txBody>
      </p:sp>
      <p:graphicFrame>
        <p:nvGraphicFramePr>
          <p:cNvPr id="416" name="Google Shape;416;p43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00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17" name="Google Shape;417;p43"/>
          <p:cNvSpPr txBox="1"/>
          <p:nvPr/>
        </p:nvSpPr>
        <p:spPr>
          <a:xfrm>
            <a:off x="1219200" y="12192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3"/>
          <p:cNvSpPr txBox="1"/>
          <p:nvPr/>
        </p:nvSpPr>
        <p:spPr>
          <a:xfrm>
            <a:off x="5638800" y="12192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3"/>
          <p:cNvSpPr txBox="1"/>
          <p:nvPr/>
        </p:nvSpPr>
        <p:spPr>
          <a:xfrm>
            <a:off x="381000" y="5867400"/>
            <a:ext cx="8012113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find the actual path we need to retrace backwards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decisions made during the calculation of A(i,j).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0" name="Google Shape;420;p43"/>
          <p:cNvGraphicFramePr/>
          <p:nvPr/>
        </p:nvGraphicFramePr>
        <p:xfrm>
          <a:off x="41148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1" name="Google Shape;421;p43"/>
          <p:cNvSpPr txBox="1"/>
          <p:nvPr/>
        </p:nvSpPr>
        <p:spPr>
          <a:xfrm>
            <a:off x="152400" y="4343400"/>
            <a:ext cx="3733800" cy="1077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Finally, the first hold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was  (1,4), since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min{5,4,8} was 4.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/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Rock climbing example: step 4</a:t>
            </a:r>
            <a:endParaRPr/>
          </a:p>
        </p:txBody>
      </p:sp>
      <p:graphicFrame>
        <p:nvGraphicFramePr>
          <p:cNvPr id="427" name="Google Shape;427;p44"/>
          <p:cNvGraphicFramePr/>
          <p:nvPr/>
        </p:nvGraphicFramePr>
        <p:xfrm>
          <a:off x="4572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65150"/>
                <a:gridCol w="561975"/>
                <a:gridCol w="565150"/>
                <a:gridCol w="561975"/>
                <a:gridCol w="565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28" name="Google Shape;428;p44"/>
          <p:cNvSpPr txBox="1"/>
          <p:nvPr/>
        </p:nvSpPr>
        <p:spPr>
          <a:xfrm>
            <a:off x="1219200" y="1219200"/>
            <a:ext cx="10429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4"/>
          <p:cNvSpPr txBox="1"/>
          <p:nvPr/>
        </p:nvSpPr>
        <p:spPr>
          <a:xfrm>
            <a:off x="5638800" y="1219200"/>
            <a:ext cx="1063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A(i,j):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4"/>
          <p:cNvSpPr txBox="1"/>
          <p:nvPr/>
        </p:nvSpPr>
        <p:spPr>
          <a:xfrm>
            <a:off x="457200" y="5410200"/>
            <a:ext cx="8012113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are done!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1" name="Google Shape;431;p44"/>
          <p:cNvGraphicFramePr/>
          <p:nvPr/>
        </p:nvGraphicFramePr>
        <p:xfrm>
          <a:off x="41148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{B2E8D9E1-18BB-4D60-B344-CBA93FD6ED14}</a:tableStyleId>
              </a:tblPr>
              <a:tblGrid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i\j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5"/>
          <p:cNvSpPr txBox="1"/>
          <p:nvPr>
            <p:ph type="title"/>
          </p:nvPr>
        </p:nvSpPr>
        <p:spPr>
          <a:xfrm>
            <a:off x="0" y="22860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Printing out the solution recursively</a:t>
            </a:r>
            <a:endParaRPr/>
          </a:p>
        </p:txBody>
      </p:sp>
      <p:sp>
        <p:nvSpPr>
          <p:cNvPr id="437" name="Google Shape;437;p45"/>
          <p:cNvSpPr txBox="1"/>
          <p:nvPr>
            <p:ph idx="1" type="body"/>
          </p:nvPr>
        </p:nvSpPr>
        <p:spPr>
          <a:xfrm>
            <a:off x="0" y="1219200"/>
            <a:ext cx="91440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PrintBest(A,i,j) </a:t>
            </a:r>
            <a:r>
              <a:rPr lang="en-US">
                <a:solidFill>
                  <a:srgbClr val="0C0C0C"/>
                </a:solidFill>
              </a:rPr>
              <a:t>// Printing the best path ending at (i,j)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	if (i==0) OR (j=0) OR (j=m+1)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		return; 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	if (A[i-1,j-1]&lt;=A[i-1,j]) AND (A[i-1,j-1]&lt;=A[i-1,j+1])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		PrintBest(A,i-1,j-1);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	elseif (A[i-1,j]&lt;=A[i-1,j-1]) AND (A[i-1,j]&lt;=A[i-1,j+1])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		PrintBest(A,i-1,j);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	elseif (A[i-1,j+1]&lt;=A[i-1,j-1]) AND (A[i-1,j+1]&lt;=A[i-1,j])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		PrintBest(A,i-1,j+1);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	printf(i,j)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6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Sum of Subset Problem</a:t>
            </a:r>
            <a:endParaRPr/>
          </a:p>
        </p:txBody>
      </p:sp>
      <p:sp>
        <p:nvSpPr>
          <p:cNvPr id="443" name="Google Shape;443;p46"/>
          <p:cNvSpPr txBox="1"/>
          <p:nvPr>
            <p:ph idx="1" type="body"/>
          </p:nvPr>
        </p:nvSpPr>
        <p:spPr>
          <a:xfrm>
            <a:off x="350838" y="12017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Problem: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/>
              <a:t>Suppose you are given N positive integer numbers A[1…N] and it is required to produce another number K using a subset of A[1..N] numbers. How can it be done using Dynamic programming approach?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Example: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	N = 6, A[1..N] = {2, 5, 8, 12, 6, 14}, K = 19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	</a:t>
            </a:r>
            <a:r>
              <a:rPr lang="en-US">
                <a:solidFill>
                  <a:srgbClr val="FF0000"/>
                </a:solidFill>
              </a:rPr>
              <a:t>Result: 2 + 5 + 12 = 19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4" name="Google Shape;444;p46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7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Coin Change Problem</a:t>
            </a:r>
            <a:endParaRPr/>
          </a:p>
        </p:txBody>
      </p:sp>
      <p:sp>
        <p:nvSpPr>
          <p:cNvPr id="450" name="Google Shape;450;p47"/>
          <p:cNvSpPr txBox="1"/>
          <p:nvPr>
            <p:ph idx="1" type="body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Suppose you are given </a:t>
            </a:r>
            <a:r>
              <a:rPr b="1" i="1" lang="en-US"/>
              <a:t>n</a:t>
            </a:r>
            <a:r>
              <a:rPr lang="en-US"/>
              <a:t> types of coin - C</a:t>
            </a:r>
            <a:r>
              <a:rPr baseline="-25000" lang="en-US"/>
              <a:t>1</a:t>
            </a:r>
            <a:r>
              <a:rPr lang="en-US"/>
              <a:t>, C</a:t>
            </a:r>
            <a:r>
              <a:rPr baseline="-25000" lang="en-US"/>
              <a:t>2</a:t>
            </a:r>
            <a:r>
              <a:rPr lang="en-US"/>
              <a:t>, … , C</a:t>
            </a:r>
            <a:r>
              <a:rPr baseline="-25000" lang="en-US"/>
              <a:t>n </a:t>
            </a:r>
            <a:r>
              <a:rPr lang="en-US"/>
              <a:t>coin, and another number </a:t>
            </a:r>
            <a:r>
              <a:rPr b="1" i="1" lang="en-US"/>
              <a:t>K.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Is it possible to make K using above types of coin?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/>
              <a:t>Number of each coin is infinite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/>
              <a:t>Number of each coin is finite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Find minimum number of coin that is required to make </a:t>
            </a:r>
            <a:r>
              <a:rPr b="1" i="1" lang="en-US"/>
              <a:t>K</a:t>
            </a:r>
            <a:r>
              <a:rPr lang="en-US"/>
              <a:t>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/>
              <a:t>Number of each coin is infinite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/>
              <a:t>Number of each coin is finite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8"/>
          <p:cNvSpPr txBox="1"/>
          <p:nvPr>
            <p:ph idx="12" type="sldNum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8"/>
          <p:cNvSpPr txBox="1"/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Maximum-sum interval</a:t>
            </a:r>
            <a:endParaRPr/>
          </a:p>
        </p:txBody>
      </p:sp>
      <p:sp>
        <p:nvSpPr>
          <p:cNvPr id="457" name="Google Shape;457;p48"/>
          <p:cNvSpPr txBox="1"/>
          <p:nvPr>
            <p:ph idx="1" type="body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Given a sequence of real numbers </a:t>
            </a:r>
            <a:r>
              <a:rPr i="1" lang="en-US"/>
              <a:t>a</a:t>
            </a:r>
            <a:r>
              <a:rPr baseline="-25000" i="1" lang="en-US"/>
              <a:t>1</a:t>
            </a:r>
            <a:r>
              <a:rPr i="1" lang="en-US"/>
              <a:t>a</a:t>
            </a:r>
            <a:r>
              <a:rPr baseline="-25000" i="1" lang="en-US"/>
              <a:t>2</a:t>
            </a:r>
            <a:r>
              <a:rPr i="1" lang="en-US"/>
              <a:t>…a</a:t>
            </a:r>
            <a:r>
              <a:rPr baseline="-25000" i="1" lang="en-US"/>
              <a:t>n</a:t>
            </a:r>
            <a:r>
              <a:rPr i="1" lang="en-US"/>
              <a:t> </a:t>
            </a:r>
            <a:r>
              <a:rPr lang="en-US"/>
              <a:t>, find a consecutive subsequence with the maximum sum.</a:t>
            </a:r>
            <a:endParaRPr/>
          </a:p>
        </p:txBody>
      </p:sp>
      <p:sp>
        <p:nvSpPr>
          <p:cNvPr id="458" name="Google Shape;458;p48"/>
          <p:cNvSpPr txBox="1"/>
          <p:nvPr/>
        </p:nvSpPr>
        <p:spPr>
          <a:xfrm>
            <a:off x="1143000" y="3429000"/>
            <a:ext cx="6248400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9 –3 1 7 –15 2 3 –4 2 –7 6 –2 8 4 -9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8"/>
          <p:cNvSpPr txBox="1"/>
          <p:nvPr/>
        </p:nvSpPr>
        <p:spPr>
          <a:xfrm>
            <a:off x="1066800" y="4724400"/>
            <a:ext cx="617220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position, we can compute the maximum-sum interval starting at that position in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time. Therefore, a naive algorithm runs in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8"/>
          <p:cNvSpPr txBox="1"/>
          <p:nvPr/>
        </p:nvSpPr>
        <p:spPr>
          <a:xfrm>
            <a:off x="1093788" y="5656263"/>
            <a:ext cx="61722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Try Yourself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2003-07-26T00:47:08Z</dcterms:created>
  <dc:creator>Syed Monowar Hossain</dc:creator>
</cp:coreProperties>
</file>